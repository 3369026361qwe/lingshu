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27432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  <a:latin typeface="Microsoft YaHei"/>
              </a:defRPr>
            </a:pPr>
            <a:r>
              <a:t>灵枢 LingShu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AED"/>
                </a:solidFill>
                <a:latin typeface="Microsoft YaHei"/>
              </a:defRPr>
            </a:pPr>
            <a:r>
              <a:t>基于LLM多智能体与图神经网络的A股量化投资系统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AA0A6"/>
                </a:solidFill>
                <a:latin typeface="Microsoft YaHei"/>
              </a:defRPr>
            </a:pPr>
            <a:r>
              <a:t>A-Share Quantitative Investment System with LLM Multi-Agent &amp; GNN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06240"/>
            <a:ext cx="10058400" cy="38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v2.0  |  2026-06-02  |  毕设答辩演示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621792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AED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31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背景 · 核心问题 · 技术壁垒 · 目标用户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697480"/>
            <a:ext cx="8686800" cy="38100"/>
          </a:xfrm>
          <a:prstGeom prst="rect">
            <a:avLst/>
          </a:prstGeom>
          <a:solidFill>
            <a:srgbClr val="22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AED"/>
                </a:solidFill>
                <a:latin typeface="Microsoft YaHei"/>
              </a:defRPr>
            </a:pPr>
            <a:r>
              <a:t>核心技术原理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LLM多智能体 · GNN产业链建模 · 时变多因子 · 集成决策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474720"/>
            <a:ext cx="8686800" cy="38100"/>
          </a:xfrm>
          <a:prstGeom prst="rect">
            <a:avLst/>
          </a:prstGeom>
          <a:solidFill>
            <a:srgbClr val="22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AED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86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六层架构 · 核心数据流 · 技术栈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251960"/>
            <a:ext cx="8686800" cy="38100"/>
          </a:xfrm>
          <a:prstGeom prst="rect">
            <a:avLst/>
          </a:prstGeom>
          <a:solidFill>
            <a:srgbClr val="22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AED"/>
                </a:solidFill>
                <a:latin typeface="Microsoft YaHei"/>
              </a:defRPr>
            </a:pPr>
            <a:r>
              <a:t>前端展示设计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仪表盘 · 智能体分析页 · 答辩演示核心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029200"/>
            <a:ext cx="8686800" cy="38100"/>
          </a:xfrm>
          <a:prstGeom prst="rect">
            <a:avLst/>
          </a:prstGeom>
          <a:solidFill>
            <a:srgbClr val="22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AED"/>
                </a:solidFill>
                <a:latin typeface="Microsoft YaHei"/>
              </a:defRPr>
            </a:pPr>
            <a:r>
              <a:t>开发路线图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5 Phase 计划 · 20天完整实施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5806440"/>
            <a:ext cx="8686800" cy="38100"/>
          </a:xfrm>
          <a:prstGeom prst="rect">
            <a:avLst/>
          </a:prstGeom>
          <a:solidFill>
            <a:srgbClr val="22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97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AED"/>
                </a:solidFill>
                <a:latin typeface="Microsoft YaHei"/>
              </a:defRPr>
            </a:pPr>
            <a:r>
              <a:t>项目壁垒 &amp; 风险声明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217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为什么无法被轻易复制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为什么叫"灵枢"？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项目命名哲学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Microsoft YaHei"/>
              </a:defRPr>
            </a:pPr>
            <a:r>
              <a:t>📖 古典渊源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400">
                <a:solidFill>
                  <a:srgbClr val="E8EAED"/>
                </a:solidFill>
                <a:latin typeface="Microsoft YaHei"/>
              </a:defRPr>
            </a:pPr>
            <a:r>
              <a:t>• 灵枢 = 《黄帝内经》之《灵枢经》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400">
                <a:solidFill>
                  <a:srgbClr val="E8EAED"/>
                </a:solidFill>
                <a:latin typeface="Microsoft YaHei"/>
              </a:defRPr>
            </a:pPr>
            <a:r>
              <a:t>• 讲人体经络系统中"灵动枢纽"的运作机理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400">
                <a:solidFill>
                  <a:srgbClr val="E8EAED"/>
                </a:solidFill>
                <a:latin typeface="Microsoft YaHei"/>
              </a:defRPr>
            </a:pPr>
            <a:r>
              <a:t>• 经络是人体气血运行的通道，枢纽是经脉交汇的关键节点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Microsoft YaHei"/>
              </a:defRPr>
            </a:pPr>
            <a:r>
              <a:t>📈 市场类比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E8EAED"/>
                </a:solidFill>
                <a:latin typeface="Microsoft YaHei"/>
              </a:defRPr>
            </a:pPr>
            <a:r>
              <a:t>• 五千多只A股 = 人体的经络系统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E8EAED"/>
                </a:solidFill>
                <a:latin typeface="Microsoft YaHei"/>
              </a:defRPr>
            </a:pPr>
            <a:r>
              <a:t>• 产业链/资金链/信息链 = 经络的传导路径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E8EAED"/>
                </a:solidFill>
                <a:latin typeface="Microsoft YaHei"/>
              </a:defRPr>
            </a:pPr>
            <a:r>
              <a:t>• 多维度因子 = 脉搏（感知市场状态）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E8EAED"/>
                </a:solidFill>
                <a:latin typeface="Microsoft YaHei"/>
              </a:defRPr>
            </a:pPr>
            <a:r>
              <a:t>• AI智能体 = 思辨（分析信息本质）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E8EAED"/>
                </a:solidFill>
                <a:latin typeface="Microsoft YaHei"/>
              </a:defRPr>
            </a:pPr>
            <a:r>
              <a:t>• 图神经网络 = 经络（捕捉联动传导）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E8EAED"/>
                </a:solidFill>
                <a:latin typeface="Microsoft YaHei"/>
              </a:defRPr>
            </a:pPr>
            <a:r>
              <a:t>• 最终目标：精准定位价值的"穴位"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"市场是一个有机生命体，我们的系统是一套经络诊断系统。"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核心问题：传统量化的三个困境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A股市场 5000+ 股票，传统做法面临系统性瓶颈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75C"/>
                </a:solidFill>
                <a:latin typeface="Microsoft YaHei"/>
              </a:defRPr>
            </a:pPr>
            <a:r>
              <a:t>❌ 信息处理瓶颈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传统: 人工阅读研报/新闻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一人一天深度覆盖 10-20 只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全市场覆盖需 250 人/天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海量非结构化数据被浪费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❌ 静态模型失效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传统: 固定权重多因子模型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市场风格切换时模型失速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价值 ↔ 成长 ↔ 主题轮动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历史规律≠未来规律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98FF"/>
                </a:solidFill>
                <a:latin typeface="Microsoft YaHei"/>
              </a:defRPr>
            </a:pPr>
            <a:r>
              <a:t>❌ 孤立分析盲区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传统: 个股独立打分排序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忽视产业链传导效应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"宁德涨→锂矿涨→电解液涨"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9AA0A6"/>
                </a:solidFill>
                <a:latin typeface="Microsoft YaHei"/>
              </a:defRPr>
            </a:pPr>
            <a:r>
              <a:t>▸ 扩散效应无法被捕捉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51560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D"/>
                </a:solidFill>
                <a:latin typeface="Microsoft YaHei"/>
              </a:defRPr>
            </a:pPr>
            <a:r>
              <a:t>🎯 核心命题：构建一个AI系统，像由多个专业分析师组成的团队，各自负责不同维度分析，通过结构化协作机制，持续产出超越人类覆盖能力的投资洞见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核心技术壁垒：三层交叉融合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不是单一技术，而是 LLM智能体 × 图神经网络 × 传统量化 的系统性整合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57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LLM 多智能体层 (信息理解)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5个专业Agent · 宏观/赛道/个股/舆情/风险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926080"/>
            <a:ext cx="91440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集成决策引擎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46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三路信号融合 · 动态权重分配 · 智能调仓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840480"/>
            <a:ext cx="91440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98FF"/>
                </a:solidFill>
                <a:latin typeface="Microsoft YaHei"/>
              </a:defRPr>
            </a:pPr>
            <a:r>
              <a:t>图神经网络层 (关系理解)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60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5000+节点异构图 · GAT注意力 · 产业链传导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754880"/>
            <a:ext cx="91440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时变多因子模型 (量化基础)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74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25+因子 · 卡尔曼滤波 · 动态权重自适应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669280"/>
            <a:ext cx="91440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C"/>
                </a:solidFill>
                <a:latin typeface="Microsoft YaHei"/>
              </a:defRPr>
            </a:pPr>
            <a:r>
              <a:t>风险控制引擎 (安全边界)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989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三态熔断 · VaR/CVaR · 压力测试 · 智能风控Agent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F37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F37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F37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F37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系统性壁垒 = 5个维度的交叉 → 竞争对手难以短期复制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核心创新①: LLM多智能体协作框架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5个专业化Agent × 独立视角 × 结构化协作 = 超越人类的投资分析覆盖能力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50292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🎯 Orchestrator Agent (调度协调器)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每日触发 → 分配任务 → 聚合结果 → 生成报告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17520"/>
            <a:ext cx="21945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198FF"/>
                </a:solidFill>
                <a:latin typeface="Microsoft YaHei"/>
              </a:defRPr>
            </a:pPr>
            <a:r>
              <a:t>🌍 宏观分析师</a:t>
            </a:r>
            <a:br/>
            <a:r>
              <a:t>Macro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🔧 工具: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160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央行政策数据库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34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宏观经济指标API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09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利率/汇率数据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📤 输出: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349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宏观环境评分</a:t>
            </a:r>
            <a:br/>
            <a:r>
              <a:t>系统性风险评估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017520"/>
            <a:ext cx="21945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🏭 赛道分析师</a:t>
            </a:r>
            <a:br/>
            <a:r>
              <a:t>Sector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🔧 工具: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160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行业资金流向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434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板块轮动热力图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709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产业链景气度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📤 输出: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349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赛道推荐排序</a:t>
            </a:r>
            <a:br/>
            <a:r>
              <a:t>行业配置建议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3017520"/>
            <a:ext cx="21945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Microsoft YaHei"/>
              </a:defRPr>
            </a:pPr>
            <a:r>
              <a:t>📊 个股分析师</a:t>
            </a:r>
            <a:br/>
            <a:r>
              <a:t>Stock 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🔧 工具: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160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财务报告RAG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434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公告/研报解析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709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估值模型计算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📤 输出: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349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个股深度分析报告</a:t>
            </a:r>
            <a:br/>
            <a:r>
              <a:t>财务质量评分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017520"/>
            <a:ext cx="21945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💬 舆情分析师</a:t>
            </a:r>
            <a:br/>
            <a:r>
              <a:t>Sentiment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🔧 工具: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160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微博/雪球API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4434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新闻情感NLP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709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机构调研追踪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📤 输出: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5349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市场情绪指数</a:t>
            </a:r>
            <a:br/>
            <a:r>
              <a:t>个股情感评分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3017520"/>
            <a:ext cx="219456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3200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475C"/>
                </a:solidFill>
                <a:latin typeface="Microsoft YaHei"/>
              </a:defRPr>
            </a:pPr>
            <a:r>
              <a:t>🛡️ 风险监控官</a:t>
            </a:r>
            <a:br/>
            <a:r>
              <a:t>Risk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🔧 工具: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4160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持仓风险计算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44348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压力测试引擎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47091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Microsoft YaHei"/>
              </a:defRPr>
            </a:pPr>
            <a:r>
              <a:t>  • 黑天鹅检测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📤 输出: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5349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4AF37"/>
                </a:solidFill>
                <a:latin typeface="Microsoft YaHei"/>
              </a:defRPr>
            </a:pPr>
            <a:r>
              <a:t>风险预警信号</a:t>
            </a:r>
            <a:br/>
            <a:r>
              <a:t>仓位调整建议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6517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Agent 通信协议 &amp; 为什么这是真正的壁垒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📋 标准化输出协议 (AgentOutput)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agent_id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智能体标识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timestamp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分析时间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target_stocks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74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分析覆盖的股票列表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[-1, 1] 看空到看多信号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06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[0, 1] 置信度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可读的推理过程 → 前端展示核心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37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支撑证据（数据来源+具体数值）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onsolas"/>
              </a:defRPr>
            </a:pPr>
            <a:r>
              <a:t>risk_flags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303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识别的风险点列表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011680"/>
            <a:ext cx="48463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C"/>
                </a:solidFill>
                <a:latin typeface="Microsoft YaHei"/>
              </a:defRPr>
            </a:pPr>
            <a:r>
              <a:t>🛡️ 五大壁垒维度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⭐ 提示词工程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9992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精心设计的系统提示词，包含金融领域知识、分析框架、输出格式约束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747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⭐ 工具链集成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307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Agent调用外部API的稳定RAG管道和函数调用链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⭐ 幻觉防控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622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多层次事实核查机制，金融场景对准确性要求极高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377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⭐ 成本优化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1937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5个Agent并行 → 合理的模型选择和缓存策略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692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Microsoft YaHei"/>
              </a:defRPr>
            </a:pPr>
            <a:r>
              <a:t>⭐ 中文金融NLP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9253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"业绩符合预期"≠利好，"超预期但低于市场传闻"≠利好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核心创新②: 图神经网络 — 产业链关系建模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传统多因子将股票视为独立样本，GNN捕捉产业链联动与扩散效应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🔍 产业链传导示例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宁德时代发布超预期财报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  → 直接相关: 锂电池产业链 (赣锋锂业、天赐材料、恩捷股份)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  → 间接相关: 新能源汽车 (比亚迪、理想汽车)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  → 更远传导: 锂矿 (天齐锂业) → 碳酸锂期货 → 盐湖提锂概念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48463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🕸️ 异构图结构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5176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节点: A股所有股票 (5000+)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边类型①: 产业链上下游 (财报/供应链)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边类型②: 同行业竞争/合作 (申万行业)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边类型③: 机构共同持仓 (基金重仓交叉)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边类型④: 概念板块归属 (Wind/同花顺)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98FF"/>
                </a:solidFill>
                <a:latin typeface="Microsoft YaHei"/>
              </a:defRPr>
            </a:pPr>
            <a:r>
              <a:t>🏗️ GNN模型架构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029200"/>
            <a:ext cx="1737360" cy="10972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49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股票特征向量</a:t>
            </a:r>
            <a:br/>
            <a:r>
              <a:t>(因子值+Agent评分)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03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5029200"/>
            <a:ext cx="1737360" cy="10972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074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图卷积层1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349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产业链信息聚合</a:t>
            </a:r>
            <a:br/>
            <a:r>
              <a:t>(按边类型分别卷积)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303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5029200"/>
            <a:ext cx="1737360" cy="10972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5074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图卷积层2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349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跨行业信息传播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303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5029200"/>
            <a:ext cx="1737360" cy="10972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5074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图注意力层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349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学习不同边类型</a:t>
            </a:r>
            <a:br/>
            <a:r>
              <a:t>的重要性权重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5303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F37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029200"/>
            <a:ext cx="1737360" cy="109728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5074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AA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53492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每只股票信息增强</a:t>
            </a:r>
            <a:br/>
            <a:r>
              <a:t>因子得分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量化基础层: 时变多因子模型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25+因子 × 卡尔曼滤波动态权重 × AI Agent因子融合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7830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198FF"/>
                </a:solidFill>
                <a:latin typeface="Microsoft YaHei"/>
              </a:defRPr>
            </a:pPr>
            <a:r>
              <a:t>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PE / PB / PS</a:t>
            </a:r>
            <a:br/>
            <a:r>
              <a:t>FCF Yield / PEG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011680"/>
            <a:ext cx="17830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1031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Microsoft YaHei"/>
              </a:defRPr>
            </a:pPr>
            <a:r>
              <a:t>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14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1M / 3M / 6M</a:t>
            </a:r>
            <a:br/>
            <a:r>
              <a:t>12-1M / 换手率动量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17830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14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ROE / ROA</a:t>
            </a:r>
            <a:br/>
            <a:r>
              <a:t>毛利率 / 净利率</a:t>
            </a:r>
            <a:br/>
            <a:r>
              <a:t>现金流/营收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011680"/>
            <a:ext cx="17830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42"/>
                </a:solidFill>
                <a:latin typeface="Microsoft YaHei"/>
              </a:defRPr>
            </a:pPr>
            <a:r>
              <a:t>波动率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历史波动率</a:t>
            </a:r>
            <a:br/>
            <a:r>
              <a:t>下行波动率</a:t>
            </a:r>
            <a:br/>
            <a:r>
              <a:t>Beta / VaR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17830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AF37"/>
                </a:solidFill>
                <a:latin typeface="Microsoft YaHei"/>
              </a:defRPr>
            </a:pPr>
            <a:r>
              <a:t>情绪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成交量比 / 资金流向</a:t>
            </a:r>
            <a:br/>
            <a:r>
              <a:t>换手率异常</a:t>
            </a:r>
            <a:br/>
            <a:r>
              <a:t>北向资金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87000" y="2011680"/>
            <a:ext cx="17830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21031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75C"/>
                </a:solidFill>
                <a:latin typeface="Microsoft YaHei"/>
              </a:defRPr>
            </a:pPr>
            <a:r>
              <a:t>AI因子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514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Agent情绪评分</a:t>
            </a:r>
            <a:br/>
            <a:r>
              <a:t>Agent基本面评分</a:t>
            </a:r>
            <a:br/>
            <a:r>
              <a:t>GNN聚合得分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89120"/>
            <a:ext cx="53035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📐 卡尔曼滤波 — 时变权重估计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观测方程: r_t = F_t · β_t + ε_t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  收益 = 因子暴露 × 时变权重 + 噪声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状态方程: β_t = β_{t-1} + η_t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  权重遵循随机游走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通过预测-更新两步迭代实时估计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创新: AI Agent输出作为额外"因子"接入框架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389120"/>
            <a:ext cx="4846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💡 创新融合点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292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传统量化 + AI 的有机融合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AI Agent的结构化评分作为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  新的"另类因子"接入多因子框架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卡尔曼滤波自动学习AI因子的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200">
                <a:solidFill>
                  <a:srgbClr val="E8EAED"/>
                </a:solidFill>
                <a:latin typeface="Microsoft YaHei"/>
              </a:defRPr>
            </a:pPr>
            <a:r>
              <a:t>•   时效性权重 → 自适应调节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集成决策引擎: 三路信号融合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多因子得分 + GNN增强得分 + Agent综合评分 → 全市场统一排序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183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Microsoft YaHei"/>
              </a:defRPr>
            </a:pPr>
            <a:r>
              <a:t>最终得分 = w₁ × 多因子得分  +  w₂ × GNN增强得分  +  w₃ × Agent综合评分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AA0A6"/>
                </a:solidFill>
                <a:latin typeface="Microsoft YaHei"/>
              </a:defRPr>
            </a:pPr>
            <a:r>
              <a:t>w₁, w₂, w₃ 由历史IC表现动态调整 (信息系数越高的信号获得越大的融合权重)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35661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198FF"/>
                </a:solidFill>
                <a:latin typeface="Microsoft YaHei"/>
              </a:defRPr>
            </a:pPr>
            <a:r>
              <a:t>多因子得分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Σ(卡尔曼权重ⱼ × 因子暴露ⱼ)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25+因子 × 时变权重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传统量化的稳定基础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474720"/>
            <a:ext cx="35661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GNN增强得分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GNN(因子向量, 产业链图)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融合关联股票信息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捕捉产业链扩散效应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474720"/>
            <a:ext cx="35661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42"/>
                </a:solidFill>
                <a:latin typeface="Microsoft YaHei"/>
              </a:defRPr>
            </a:pPr>
            <a:r>
              <a:t>Agent综合评分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0.25×宏观 + 0.25×赛道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+ 0.30×个股 + 0.20×情绪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5个Agent的结构化洞见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943600"/>
            <a:ext cx="9418320" cy="548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989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EAED"/>
                </a:solidFill>
                <a:latin typeface="Microsoft YaHei"/>
              </a:defRPr>
            </a:pPr>
            <a:r>
              <a:t>三路信号融合 → 全市场排序 → Top 30 选股 → 风险过滤 → 调仓清单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风险控制体系: 四层防护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从熔断到仓位到实时监控到AI制衡，多层安全网保障资金安全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75C"/>
                </a:solidFill>
                <a:latin typeface="Microsoft YaHei"/>
              </a:defRPr>
            </a:pPr>
            <a:r>
              <a:t>L1 熔断器</a:t>
            </a:r>
            <a:br/>
            <a:r>
              <a:t>Circuit Breaker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260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三态自动切换: CLOSED ↔ OPEN ↔ HALF_OPEN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触发: 连续亏损≥3次 | 日亏≥2% | 回撤≥8%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Timer自动冷却恢复机制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48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42"/>
                </a:solidFill>
                <a:latin typeface="Microsoft YaHei"/>
              </a:defRPr>
            </a:pPr>
            <a:r>
              <a:t>L2 仓位管理</a:t>
            </a:r>
            <a:br/>
            <a:r>
              <a:t>Position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260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单票 ≤ 10% | 单行业 ≤ 30% | 总仓位 ≤ 95%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凯利公式动态调整每笔仓位大小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Black-Litterman组合优化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198FF"/>
                </a:solidFill>
                <a:latin typeface="Microsoft YaHei"/>
              </a:defRPr>
            </a:pPr>
            <a:r>
              <a:t>L3 实时监控</a:t>
            </a:r>
            <a:br/>
            <a:r>
              <a:t>Real-time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VaR(95%) / CVaR(95%) 实时计算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压力测试: 2008/2015/2020/2024 极端场景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黑天鹅检测: 舆情异常 → 自动降仓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2148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L4 风险Agent</a:t>
            </a:r>
            <a:br/>
            <a:r>
              <a:t>Risk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9260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独立运行，有权否决交易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与收益导向的Agent形成制衡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E8EAED"/>
                </a:solidFill>
                <a:latin typeface="Microsoft YaHei"/>
              </a:defRPr>
            </a:pPr>
            <a:r>
              <a:t>• AI驱动的风险预警信号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系统架构: 六层体系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展示层 → API层 → 决策层 → {AI智能体层 + 量化引擎层 + GNN层} → 数据层 → 基础设施层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09728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Microsoft YaHei"/>
              </a:defRPr>
            </a:pPr>
            <a:r>
              <a:t>展示层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0195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React 18 + TypeScript + Ant Design 5 + ECharts | 暗色金融主题 | 中/EN双语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09728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9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Microsoft YaHei"/>
              </a:defRPr>
            </a:pPr>
            <a:r>
              <a:t>API 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7919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FastAPI + Uvicorn | REST 15+ 端点 | 4 WebSocket 频道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109728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56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决策层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5643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集成决策引擎 + 信号生成器 + 调仓计算器 → 三路信号融合 → 全市场排序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233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09728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42"/>
                </a:solidFill>
                <a:latin typeface="Microsoft YaHei"/>
              </a:defRPr>
            </a:pPr>
            <a:r>
              <a:t>AI智能体层 / 量化引擎层 / GNN层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3367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5 Agent并行分析 | 25+因子+卡尔曼滤波 | 5000+节点异构图GAT推理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006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7760"/>
            <a:ext cx="109728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10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198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01091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AKShare(行情) + Tushare(财务) + News API + Weibo | 预处理管道(清洗→对齐→去极值→标准化)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778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15000"/>
            <a:ext cx="109728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88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7280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78815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PostgreSQL + Redis + Alembic + Prometheus + Grafana + Docker 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核心数据流: 每日收盘后全自动分析流程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📅 每日 15:00 收盘后自动触发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① 数据层拉取: 全市场日线 + 财报更新 + 新闻舆情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900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② 因子引擎: 25+因子并行计算 (30秒内)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284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③ AI智能体: 5 Agent并行分析，产出结构化洞见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667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④ GNN引擎: 产业链图更新 + 信息传播 + 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05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⑤ 卡尔曼滤波: 基于最新收益更新因子权重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⑥ 集成决策: 三路信号加权融合 → 全市场排序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81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⑦ 调仓计算: Top 30 选股 + 风险过滤 + 交易清单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00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⑧ 模拟执行: 生成成交记录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583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⑨ 持久化: 因子/信号/交易/智能体报告 → 数据库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967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⑩ WebSocket推送: 前端Dashboard实时更新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11680"/>
            <a:ext cx="4846320" cy="4114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⚡ 实时模式 (9:30-15:00 交易时段)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每5分钟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拉取快照数据，更新市场概览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舆情Agent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持续监控异常信号 (突发新闻/异动)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风险Agent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实时评估持仓风险敞口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663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每10秒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WebSocket推送前端市场概览更新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熔断器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实时检测并自动响应异常条件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技术栈全景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从底层数据到前端展示的完整技术选型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572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117"/>
                </a:solidFill>
                <a:latin typeface="Microsoft YaHei"/>
              </a:defRPr>
            </a:pPr>
            <a:r>
              <a:t>层级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117"/>
                </a:solidFill>
                <a:latin typeface="Microsoft YaHei"/>
              </a:defRPr>
            </a:pPr>
            <a:r>
              <a:t>技术选型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117"/>
                </a:solidFill>
                <a:latin typeface="Microsoft YaHei"/>
              </a:defRPr>
            </a:pPr>
            <a:r>
              <a:t>选择理由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后端语言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774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AI/数据科学生态最完整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42616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后端框架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426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FastAPI + 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4261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高性能异步，原生WebSocket支持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07792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07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LLM框架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077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LangChain + 自建Agent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077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成熟的Agent编排 + 金融场景定制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72968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1729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LLM模型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1729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本地Qwen3-32B / deepseek-v4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729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中文金融理解力强，成本可控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438144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4381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GNN框架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4381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PyTorch Geometric (PyG)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381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最成熟的图神经网络库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03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数值计算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7033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NumPy + SciPy + Pandas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科学计算标配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68496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684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技术指标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9684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TA-Lib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9684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80+ 金融技术指标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33672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2336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卡尔曼滤波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233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filterpy / 自实现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233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轻量级，无额外依赖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498848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98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数据获取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49884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AKShare + Tushare Pro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498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免费且覆盖全面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764024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7640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中文NLP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476402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jieba + BERT-Chinese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7640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分词 + 金融情感分析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029200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0292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0" y="5029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React 18 + TypeScript + Vite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029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现代前端工程化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294376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294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UI库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2943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Ant Design 5 + ECharts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2943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企业级组件 + 金融图表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559552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26080" y="55595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PostgreSQL / SQLite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559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关系型 + JSON字段灵活存储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5824728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824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0" y="58247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8247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因子缓存 + Agent结果缓存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6089904"/>
            <a:ext cx="10698480" cy="265176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60899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容器化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60899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Docker Compose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60899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一键部署全部服务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6355080"/>
            <a:ext cx="10698480" cy="265176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" y="6355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F37"/>
                </a:solidFill>
                <a:latin typeface="Microsoft YaHei"/>
              </a:defRPr>
            </a:pPr>
            <a:r>
              <a:t>监控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26080" y="63550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Prometheus + Grafana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63550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指标采集 + 可视化仪表盘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前端展示: 首页仪表盘 (Dashboard)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最核心的展示页面 — 市场概览 + AI洞察 + 推荐 + 收益曲线 + 因子权重 + GNN关系图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57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灵枢 LingShu   🟢 系统正常 | 2026-06-02 15:30 | 下次调仓: 明天 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00400" cy="182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98FF"/>
                </a:solidFill>
                <a:latin typeface="Microsoft YaHei"/>
              </a:defRPr>
            </a:pPr>
            <a:r>
              <a:t>📊 市场概览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Microsoft YaHei"/>
              </a:defRPr>
            </a:pPr>
            <a:r>
              <a:t>沪深300  +0.82%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Microsoft YaHei"/>
              </a:defRPr>
            </a:pPr>
            <a:r>
              <a:t>中证500  +1.15%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Microsoft YaHei"/>
              </a:defRPr>
            </a:pPr>
            <a:r>
              <a:t>创业板指 +2.03%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75C"/>
                </a:solidFill>
                <a:latin typeface="Microsoft YaHei"/>
              </a:defRPr>
            </a:pPr>
            <a:r>
              <a:t>上涨2856 / 下跌1982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468880"/>
            <a:ext cx="7223760" cy="1828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🧠 AI智能体今日洞察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🤖 宏观分析师: "PMI连续3月扩张，建议超配制造业"  置信度: 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🤖 赛道分析师: "新能源板块资金持续流入，光伏和锂电是当前最强赛道"  置信度: 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🤖 风险监控官: "⚠ 北向资金连续3日净流出，建议将总仓位从95%降至80%"  置信度: 85%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320040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🏆 今日推荐 Top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300750 宁德时代  94.2  电力  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002594 比亚迪    91.8  汽车  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600519 贵州茅台  89.3  食品  7.1%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300274 阳光电源  87.6  电力  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35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AED"/>
                </a:solidFill>
                <a:latin typeface="Microsoft YaHei"/>
              </a:defRPr>
            </a:pPr>
            <a:r>
              <a:t>601012 隆基绿能  85.2  电力  6.2%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480560"/>
            <a:ext cx="338328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572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📈 收益曲线 (累计 vs 沪深300)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29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[ ECharts 交互式折线图 ]</a:t>
            </a:r>
            <a:br/>
            <a:r>
              <a:t>支持缩放/悬停/时间范围选择</a:t>
            </a:r>
            <a:br/>
            <a:r>
              <a:t>实时更新，红色=策略收益，灰色=基准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480560"/>
            <a:ext cx="356616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Microsoft YaHei"/>
              </a:defRPr>
            </a:pPr>
            <a:r>
              <a:t>⚖️ 因子权重变化 + 🕸️ GNN关系图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PE:    ████████░ 0.15</a:t>
            </a:r>
            <a:br/>
            <a:r>
              <a:t>动量:  ██████░░░ 0.12</a:t>
            </a:r>
            <a:br/>
            <a:r>
              <a:t>ROE:   ████████░ 0.18</a:t>
            </a:r>
            <a:br/>
            <a:r>
              <a:t>情绪:  ████░░░░░ 0.08</a:t>
            </a:r>
            <a:br/>
            <a:br/>
            <a:r>
              <a:t>力导向图: 红色=推荐，蓝色=关联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前端展示: 智能体分析页 (Agent Insight)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毕设答辩的核心演示页 — 最具视觉冲击力的页面 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48640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🤖 Orchestrator — 任务调度时间线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09:00 | 🟢 开始今日分析任务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99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09:00 | → 分派宏观分析任务给 Macro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46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09:00 | → 分派赛道分析任务给 Sector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09:00 | → 分派舆情分析任务给 Sentiment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09:15 | ← 收到Macro Analyst报告 (评分:+0.3, 置信度:78%)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09:18 | ← 收到Sector Analyst报告 (推荐:新能源/医药/半导体)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36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09:20 | ← 收到Sentiment Analyst报告 (情绪指数:62, 偏乐观)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840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09:20 | → 综合以上，分派个股分析给 Stock Analyst ×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315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09:35 | ← 全部Agent报告收集完毕，开始聚合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09:36 | → 生成今日投资报告，推送Dashboard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011680"/>
            <a:ext cx="4846320" cy="4389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✨ 核心体验特性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• 打字机效果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9443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逐字展示Agent的分析推理过程，像ChatGPT一样实时"思考"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3375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• 证据溯源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387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每个结论后面标注数据来源和具体数值，确保可验证性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9319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• 多Agent协作可视化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330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Orchestrator分配任务 → Agent并行工作 → 结果汇聚的全过程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262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• 历史回放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27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可选择历史日期，回放当天的Agent分析过程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12064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• 信心度标注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32180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每条分析附带置信度 (78%/82%/85%)，供用户判断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7150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• ⚠ 风险突出显示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9161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风险Agent的警告以红色高亮，确保不被忽视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开发路线图: Phase 1-3 (前13天)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数据地基 → AI智能体系统 → GNN + 决策引擎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98FF"/>
                </a:solidFill>
                <a:latin typeface="Microsoft YaHei"/>
              </a:defRPr>
            </a:pPr>
            <a:r>
              <a:t>Phase 1: 数据地基 + 因子体系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⏱ 4天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AKShare/Tushare 数据管道 → 全市场日线+财务自动拉取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数据预处理管道 → 去极值/标准化/行业中性化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25+因子计算引擎 → 每个因子计算&lt;30秒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因子有效性检验 → IC/IR/分层回测，复合因子IC&gt;0.05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80"/>
            <a:ext cx="1069848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Phase 2: AI智能体系统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⏱ 5天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Agent基类框架 → 工具注册/记忆/标准化输出 (单元测试覆盖)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5个专业Agent实现 → 完整提示词+工具链 (人工评审输出质量)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Orchestrator调度器 → 任务分配+结果聚合 (端到端流程跑通)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RAG检索增强管道 → 财报/公告/研报向量库 (检索准确率&gt;80%)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Agent结果缓存 → Redis缓存 (重复查询&lt;100ms响应)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1417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Phase 3: GNN + 决策引擎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303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⏱ 4天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A股产业链图构建 → 5000+节点/12000+边的异构图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GNN模型训练 → GAT模型 (节点分类准确率&gt;60%)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集成决策引擎 → 三路信号融合 (模拟组合超额收益&gt;5%)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▸ 调仓计算器 → 最优持仓清单 (约束全部满足)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开发路线图: Phase 4-5 (后7天)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前端Dashboard → 回测 + 集成 + 部署 → 答辩材料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Phase 4: 前端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⏱ 4天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首页仪表盘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60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市场概览+推荐+Agent洞察+收益曲线 → 视觉效果达到展示级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智能体分析页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Agent思考过程可视化 → 答辩演示核心页面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选股结果页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排行榜+因子拆解+个股详情 → 交互流畅，数据准确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风险监控页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风险仪表盘+压力测试 → 实时更新，告警醒目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75C"/>
                </a:solidFill>
                <a:latin typeface="Microsoft YaHei"/>
              </a:defRPr>
            </a:pPr>
            <a:r>
              <a:t>Phase 5: 回测 + 集成 +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⏱ 3天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端到端回测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846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2019-2025完整回测 → 年化超额&gt;10%，夏普&gt;1.5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API+WebSocket联调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212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前后端数据贯通 → 实时推送延迟&lt;2秒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Docker部署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778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docker-compose up → 一键启动全部服务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Microsoft YaHei"/>
              </a:defRPr>
            </a:pPr>
            <a:r>
              <a:t>▸ 答辩材料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943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PPT + 演示脚本 + 设计文档 → 完整可演示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为什么这个项目无法被轻易复制？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系统性壁垒 = 5个维度的交叉，而非单一技术的深度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14884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  <a:latin typeface="Microsoft YaHei"/>
              </a:defRPr>
            </a:pPr>
            <a:r>
              <a:t>AI Agent系统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⭐⭐⭐⭐⭐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5个专业Agent提示词工程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金融工具链集成 (RAG+API)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幻觉防控 + 事实核查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中文金融NLP特殊性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011680"/>
            <a:ext cx="214884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Microsoft YaHei"/>
              </a:defRPr>
            </a:pPr>
            <a:r>
              <a:t>GNN产业链建模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5000+节点异构图构建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4种边类型设计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GAT模型训练调优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图结构动态更新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14884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数据工程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4688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⭐⭐⭐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83464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多源数据融合管道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(行情+财务+新闻+舆情)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预处理管道 (5步)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数据质量保障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011680"/>
            <a:ext cx="214884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198FF"/>
                </a:solidFill>
                <a:latin typeface="Microsoft YaHei"/>
              </a:defRPr>
            </a:pPr>
            <a:r>
              <a:t>系统工程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4688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83464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六层架构全链路实现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实时更新 + 前端可视化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微服务容器化部署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监控告警体系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011680"/>
            <a:ext cx="214884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42"/>
                </a:solidFill>
                <a:latin typeface="Microsoft YaHei"/>
              </a:defRPr>
            </a:pPr>
            <a:r>
              <a:t>金融领域知识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4688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4AF37"/>
                </a:solidFill>
                <a:latin typeface="Microsoft YaHei"/>
              </a:defRPr>
            </a:pPr>
            <a:r>
              <a:t>⭐⭐⭐⭐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83464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25+因子计算逻辑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卡尔曼滤波动态权重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Black-Litterman组合优化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• 四层风控体系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Microsoft YaHei"/>
              </a:defRPr>
            </a:pPr>
            <a:r>
              <a:t>🏆 系统性壁垒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AED"/>
                </a:solidFill>
                <a:latin typeface="Microsoft YaHei"/>
              </a:defRPr>
            </a:pPr>
            <a:r>
              <a:t>一个团队要复制这个系统，需要同时具备 AI工程 + 图神经网络 + 量化金融 + 前端开发 四个领域的能力。这就是最大的壁垒。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目标用户 &amp; 体验设计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四个维度的用户需求与系统满足方式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Microsoft YaHei"/>
              </a:defRPr>
            </a:pPr>
            <a:r>
              <a:t>🎓 毕设答辩评委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快速理解创新点</a:t>
            </a:r>
            <a:br/>
            <a:r>
              <a:t>看到技术深度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19456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系统如何满足: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首页"智能体思考过程"可视化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技术架构图直观展示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Agent分析页：最有视觉冲击力的演示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💰 潜在投资者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获得选股建议</a:t>
            </a:r>
            <a:br/>
            <a:r>
              <a:t>理解推荐逻辑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108960"/>
            <a:ext cx="219456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系统如何满足: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每日推荐 Top 20 选股列表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AI分析摘要 (可读的自然语言)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置信度标注 (判断可靠性)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19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198FF"/>
                </a:solidFill>
                <a:latin typeface="Microsoft YaHei"/>
              </a:defRPr>
            </a:pPr>
            <a:r>
              <a:t>💻 开发者/合作者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API接入</a:t>
            </a:r>
            <a:br/>
            <a:r>
              <a:t>二次开发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108960"/>
            <a:ext cx="2194560" cy="38100"/>
          </a:xfrm>
          <a:prstGeom prst="rect">
            <a:avLst/>
          </a:prstGeom>
          <a:solidFill>
            <a:srgbClr val="419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系统如何满足: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RESTful API 15+ 端点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4 WebSocket 实时频道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完整文档 + Swagger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011680"/>
            <a:ext cx="2743200" cy="4114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Microsoft YaHei"/>
              </a:defRPr>
            </a:pPr>
            <a:r>
              <a:t>👀 项目展示观众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Microsoft YaHei"/>
              </a:defRPr>
            </a:pPr>
            <a:r>
              <a:t>直观感受</a:t>
            </a:r>
            <a:br/>
            <a:r>
              <a:t>AI能力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3108960"/>
            <a:ext cx="219456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32004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系统如何满足: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42900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实时数据刷新 (每10秒)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动态图表 (ECharts交互)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100">
                <a:solidFill>
                  <a:srgbClr val="9AA0A6"/>
                </a:solidFill>
                <a:latin typeface="Microsoft YaHei"/>
              </a:defRPr>
            </a:pPr>
            <a:r>
              <a:t>✓ 智能体对话记录回放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AED"/>
                </a:solidFill>
                <a:latin typeface="Microsoft YaHei"/>
              </a:defRPr>
            </a:pPr>
            <a:r>
              <a:t>创新点总结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Microsoft YaHei"/>
              </a:defRPr>
            </a:pPr>
            <a:r>
              <a:t>本项目的核心竞争力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09728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Microsoft YaHei"/>
              </a:defRPr>
            </a:pPr>
            <a:r>
              <a:t>创新①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Microsoft YaHei"/>
              </a:defRPr>
            </a:pPr>
            <a:r>
              <a:t>LLM多智能体协作框架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首次将5个专业LLM Agent系统性地应用于A股投资分析，每个Agent拥有独立的分析视角、工具链和输出格式，通过Orchestrator调度实现结构化的多维度协作分析。Agent输出作为结构化"AI因子"接入传统量化框架，实现AI与量化的有机融合。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09728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Microsoft YaHei"/>
              </a:defRPr>
            </a:pPr>
            <a:r>
              <a:t>创新②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Microsoft YaHei"/>
              </a:defRPr>
            </a:pPr>
            <a:r>
              <a:t>图神经网络产业链建模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构建5000+节点/12000+边的A股异构图，4种边类型（产业链上下游、同行业、机构共持、概念板块），使用GAT模型学习不同关系的重要性权重，将产业链联动效应量化为可优化的信号，突破了传统多因子模型的"孤立分析"局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109728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创新③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Microsoft YaHei"/>
              </a:defRPr>
            </a:pPr>
            <a:r>
              <a:t>时变因子权重 (卡尔曼滤波)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使用卡尔曼滤波替代传统的固定权重或滚动回归，实现因子权重的在线自适应估计。"观测方程 + 状态方程"的预测-更新框架能够捕捉市场风格的缓慢漂移，并且天然支持将AI Agent的结构化输出作为新因子无缝接入。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09728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75C"/>
                </a:solidFill>
                <a:latin typeface="Microsoft YaHei"/>
              </a:defRPr>
            </a:pPr>
            <a:r>
              <a:t>创新④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Microsoft YaHei"/>
              </a:defRPr>
            </a:pPr>
            <a:r>
              <a:t>四层风险控制体系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三态熔断器 + 仓位管理 + 实时VaR监控 + AI独立风控Agent，形成从自动化到智能化的多层安全网。特别是L4风险Agent独立运行并有权否决交易，与收益导向的Agent形成制衡机制。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0972800" cy="822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Microsoft YaHei"/>
              </a:defRPr>
            </a:pPr>
            <a:r>
              <a:t>创新⑤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AED"/>
                </a:solidFill>
                <a:latin typeface="Microsoft YaHei"/>
              </a:defRPr>
            </a:pPr>
            <a:r>
              <a:t>AI思维可视化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0A6"/>
                </a:solidFill>
                <a:latin typeface="Microsoft YaHei"/>
              </a:defRPr>
            </a:pPr>
            <a:r>
              <a:t>将AI Agent的分析推理过程以前端可视化方式呈现（打字机效果+证据溯源+时间线），这是毕设答辩的核心展示亮点——评审老师可以直观"看到AI在思考"。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828800"/>
            <a:ext cx="5760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D4AF37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AED"/>
                </a:solidFill>
                <a:latin typeface="Microsoft YaHei"/>
              </a:defRPr>
            </a:pPr>
            <a:r>
              <a:t>灵枢 LingShu — 基于LLM多智能体与图神经网络的A股量化投资系统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94183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75C"/>
                </a:solidFill>
                <a:latin typeface="Microsoft YaHei"/>
              </a:defRPr>
            </a:pPr>
            <a:r>
              <a:t>⚠ 重要风险声明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2628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• 本项目仅供学习与研究目的，不构成任何投资建议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823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• 历史回测表现不代表未来收益，策略在特定市场环境下可能完全失效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38344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• AI Agent的输出可能包含幻觉或错误判断，需要人工复核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294376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• A股 T+1 制度、涨跌停限制等可能影响策略执行效果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55040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AA0A6"/>
                </a:solidFill>
                <a:latin typeface="Microsoft YaHei"/>
              </a:defRPr>
            </a:pPr>
            <a:r>
              <a:t>• LLM API 不可用或模型版本变更可能导致 Agent 行为异常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0644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75C"/>
                </a:solidFill>
                <a:latin typeface="Microsoft YaHei"/>
              </a:defRPr>
            </a:pPr>
            <a:r>
              <a:t>• 投资有风险，入市须谨慎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v2.0  |  2026-06-02  |  AI工程 × 图神经网络 × 量化金融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